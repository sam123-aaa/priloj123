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fa3dc5d3fe4201" /><Relationship Type="http://schemas.openxmlformats.org/officeDocument/2006/relationships/extended-properties" Target="/docProps/app.xml" Id="R1c565768f94b433d" /><Relationship Type="http://schemas.openxmlformats.org/officeDocument/2006/relationships/officeDocument" Target="/ppt/presentation.xml" Id="R7cb1ce111bb041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cc07befe1d4f27"/>
  </p:sldMasterIdLst>
  <p:notesMasterIdLst>
    <p:notesMasterId xmlns:r="http://schemas.openxmlformats.org/officeDocument/2006/relationships" r:id="R59baa3a6c4754570"/>
  </p:notesMasterIdLst>
  <p:sldIdLst>
    <p:sldId xmlns:r="http://schemas.openxmlformats.org/officeDocument/2006/relationships" id="256" r:id="Rd22a873fda4744e4"/>
    <p:sldId xmlns:r="http://schemas.openxmlformats.org/officeDocument/2006/relationships" id="257" r:id="R53104591aa4a4653"/>
    <p:sldId xmlns:r="http://schemas.openxmlformats.org/officeDocument/2006/relationships" id="258" r:id="Ra03978bccc264104"/>
    <p:sldId xmlns:r="http://schemas.openxmlformats.org/officeDocument/2006/relationships" id="259" r:id="R76abaeb01ab84ffb"/>
    <p:sldId xmlns:r="http://schemas.openxmlformats.org/officeDocument/2006/relationships" id="260" r:id="R097c2d4646e54753"/>
    <p:sldId xmlns:r="http://schemas.openxmlformats.org/officeDocument/2006/relationships" id="261" r:id="Rc3ee8a544dd545b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cc07befe1d4f27" /><Relationship Type="http://schemas.openxmlformats.org/officeDocument/2006/relationships/theme" Target="/ppt/theme/theme1.xml" Id="R56749663b2714ce1" /><Relationship Type="http://schemas.openxmlformats.org/officeDocument/2006/relationships/notesMaster" Target="/ppt/notesMasters/notesMaster1.xml" Id="R59baa3a6c4754570" /><Relationship Type="http://schemas.openxmlformats.org/officeDocument/2006/relationships/presProps" Target="/ppt/presProps.xml" Id="R79ed1a97e6394e7b" /><Relationship Type="http://schemas.openxmlformats.org/officeDocument/2006/relationships/viewProps" Target="/ppt/viewProps.xml" Id="Reed9cce5d4ae4211" /><Relationship Type="http://schemas.openxmlformats.org/officeDocument/2006/relationships/tableStyles" Target="/ppt/tableStyles.xml" Id="R85de63003ea74c61" /><Relationship Type="http://schemas.openxmlformats.org/officeDocument/2006/relationships/slide" Target="/ppt/slides/slide1.xml" Id="Rd22a873fda4744e4" /><Relationship Type="http://schemas.openxmlformats.org/officeDocument/2006/relationships/slide" Target="/ppt/slides/slide2.xml" Id="R53104591aa4a4653" /><Relationship Type="http://schemas.openxmlformats.org/officeDocument/2006/relationships/slide" Target="/ppt/slides/slide3.xml" Id="Ra03978bccc264104" /><Relationship Type="http://schemas.openxmlformats.org/officeDocument/2006/relationships/slide" Target="/ppt/slides/slide4.xml" Id="R76abaeb01ab84ffb" /><Relationship Type="http://schemas.openxmlformats.org/officeDocument/2006/relationships/slide" Target="/ppt/slides/slide5.xml" Id="R097c2d4646e54753" /><Relationship Type="http://schemas.openxmlformats.org/officeDocument/2006/relationships/slide" Target="/ppt/slides/slide6.xml" Id="Rc3ee8a544dd545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f537c3948084b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ed7f044484498f" /><Relationship Type="http://schemas.openxmlformats.org/officeDocument/2006/relationships/notesMaster" Target="/ppt/notesMasters/notesMaster1.xml" Id="R9ee28bf52a1942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88379f37b64e9f" /><Relationship Type="http://schemas.openxmlformats.org/officeDocument/2006/relationships/notesMaster" Target="/ppt/notesMasters/notesMaster1.xml" Id="R1c9ad4cc2f534b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d8e25e27884186" /><Relationship Type="http://schemas.openxmlformats.org/officeDocument/2006/relationships/notesMaster" Target="/ppt/notesMasters/notesMaster1.xml" Id="R78666a4a7bfc4a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4434a5ae1d449a" /><Relationship Type="http://schemas.openxmlformats.org/officeDocument/2006/relationships/notesMaster" Target="/ppt/notesMasters/notesMaster1.xml" Id="Rc421aed037f840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831bbefeff4d64" /><Relationship Type="http://schemas.openxmlformats.org/officeDocument/2006/relationships/notesMaster" Target="/ppt/notesMasters/notesMaster1.xml" Id="R74aba63e735642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524c4cc79e459d" /><Relationship Type="http://schemas.openxmlformats.org/officeDocument/2006/relationships/notesMaster" Target="/ppt/notesMasters/notesMaster1.xml" Id="R041af1128fe748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fbf39f24e548e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53e54388ff94110" /><Relationship Type="http://schemas.openxmlformats.org/officeDocument/2006/relationships/slideLayout" Target="/ppt/slideLayouts/slideLayout2.xml" Id="Rfde0e4ed03ce48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e0e4ed03ce48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86eb00d1634e21" /><Relationship Type="http://schemas.openxmlformats.org/officeDocument/2006/relationships/notesSlide" Target="/ppt/notesSlides/notesSlide1.xml" Id="R2f5e2d07c3724f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0fe697f3284b62" /><Relationship Type="http://schemas.openxmlformats.org/officeDocument/2006/relationships/notesSlide" Target="/ppt/notesSlides/notesSlide2.xml" Id="R8dd80ab2937e44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4c981483294dbc" /><Relationship Type="http://schemas.openxmlformats.org/officeDocument/2006/relationships/notesSlide" Target="/ppt/notesSlides/notesSlide3.xml" Id="R78db4a8afc2c4f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892741f5b94ef5" /><Relationship Type="http://schemas.openxmlformats.org/officeDocument/2006/relationships/notesSlide" Target="/ppt/notesSlides/notesSlide4.xml" Id="Rc794c12153f44e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c793f374ba4cf7" /><Relationship Type="http://schemas.openxmlformats.org/officeDocument/2006/relationships/notesSlide" Target="/ppt/notesSlides/notesSlide5.xml" Id="Re090cf60ae2744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3672a5df5449ea" /><Relationship Type="http://schemas.openxmlformats.org/officeDocument/2006/relationships/notesSlide" Target="/ppt/notesSlides/notesSlide6.xml" Id="R6500bf88495045a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29AD0D01-92B3-4AE9-A77E-48E4FF93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ECBCD-8CBC-4A6E-860A-08AE1183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520666" cy="563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29AB9-1BB1-481F-82DD-BD93CA47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23900"/>
            <a:ext cx="1219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Учебный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252AD-D03D-49BA-8C49-9F2E39E3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514350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72033"/>
                </a:solidFill>
              </a:defRPr>
            </a:pPr>
            <a:r>
              <a:rPr sz="5700" b="1">
                <a:solidFill>
                  <a:srgbClr val="172033"/>
                </a:solidFill>
              </a:rPr>
              <a:t>Maintenance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4CE25-364B-45EC-8472-1B0CC252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7391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65738A"/>
                </a:solidFill>
              </a:defRPr>
            </a:pPr>
            <a:r>
              <a:rPr sz="2250">
                <a:solidFill>
                  <a:srgbClr val="65738A"/>
                </a:solidFill>
              </a:rPr>
              <a:t>Система обслуживания оборудования с API, очередью задач и защитой backend-части.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59DE1-B078-4494-9802-90B92DE6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1990"/>
            <a:ext cx="830294" cy="563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24756-DEB6-4505-A8D2-A8E26796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533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369A1"/>
                </a:solidFill>
              </a:defRPr>
            </a:pPr>
            <a:r>
              <a:rPr sz="1350" b="1">
                <a:solidFill>
                  <a:srgbClr val="0369A1"/>
                </a:solidFill>
              </a:rPr>
              <a:t>FastAPI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AB477-4093-40C6-BBE3-8E822251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844" y="4491990"/>
            <a:ext cx="1109186" cy="563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FAE5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B1815-5BE5-430D-8293-65776FF9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572000"/>
            <a:ext cx="800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PostgreSQL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CA72E3-F689-40FB-BE89-B90418D8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380" y="4491990"/>
            <a:ext cx="1209675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DD5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6A8566-DAE7-4050-81CC-CCC18E39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72000"/>
            <a:ext cx="91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A580C"/>
                </a:solidFill>
              </a:defRPr>
            </a:pPr>
            <a:r>
              <a:rPr sz="1350" b="1">
                <a:solidFill>
                  <a:srgbClr val="EA580C"/>
                </a:solidFill>
              </a:rPr>
              <a:t>Redis/Celery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A62F0-712B-4222-9EDD-E95905A2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8362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38A"/>
                </a:solidFill>
              </a:defRPr>
            </a:pPr>
            <a:r>
              <a:rPr sz="1500">
                <a:solidFill>
                  <a:srgbClr val="65738A"/>
                </a:solidFill>
              </a:rPr>
              <a:t>Презентация по проекту •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3DB844-566F-45AA-B141-45E2E704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5045" y="647700"/>
            <a:ext cx="7564755" cy="8991600"/>
          </a:xfrm>
          <a:prstGeom xmlns:a="http://schemas.openxmlformats.org/drawingml/2006/main" prst="roundRect">
            <a:avLst>
              <a:gd name="adj" fmla="val 377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6F1AE9-B0CC-4407-81E0-8FF865B0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28700"/>
            <a:ext cx="6800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Основной смысл проекта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A0A967-D22A-4E4B-90B9-4239F5B3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045" y="164592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DBFE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33296-0EF4-42AB-9CFE-090004D8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63830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CE54A1-5A24-445C-A888-86C6FB37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638300"/>
            <a:ext cx="6457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Сбор данных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3DDACA-4AB7-4320-A7A8-3ADC1EA7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962150"/>
            <a:ext cx="6457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38A"/>
                </a:solidFill>
              </a:defRPr>
            </a:pPr>
            <a:r>
              <a:rPr sz="1500">
                <a:solidFill>
                  <a:srgbClr val="65738A"/>
                </a:solidFill>
              </a:rPr>
              <a:t>Метрололог передает измерения по компонентам оборудования.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004C3E-BBFA-4702-B787-9E164BCB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045" y="242697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BF7D0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F32DD4-C54A-40CB-9847-24BE79DC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1935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A6840A-3288-4BBF-AD58-C4A82A17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419350"/>
            <a:ext cx="6457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Обработка неисправностей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6AA947-0C80-4822-94C7-68BA66C9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743200"/>
            <a:ext cx="6457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38A"/>
                </a:solidFill>
              </a:defRPr>
            </a:pPr>
            <a:r>
              <a:rPr sz="1500">
                <a:solidFill>
                  <a:srgbClr val="65738A"/>
                </a:solidFill>
              </a:rPr>
              <a:t>Эксперт подтверждает fault и создает рекомендации.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182261-07C5-4A49-9293-52307C27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045" y="320802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D7AA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6AFCBE-A69C-4181-BEF0-429DA374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0040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E031F0-6F33-4B4D-823D-BCF0BE2B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00400"/>
            <a:ext cx="6457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Планирование работ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F214FA-DE53-4061-867C-53A4A161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524250"/>
            <a:ext cx="6457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38A"/>
                </a:solidFill>
              </a:defRPr>
            </a:pPr>
            <a:r>
              <a:rPr sz="1500">
                <a:solidFill>
                  <a:srgbClr val="65738A"/>
                </a:solidFill>
              </a:rPr>
              <a:t>Диспетчер формирует план, механик выполняет задачу.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C4AD5E-9845-4650-9B25-9D3B2515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045" y="398907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D5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A92018-6CAE-4239-8AC3-76CD7854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98145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015EE1-B659-4E35-972B-83FA774A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981450"/>
            <a:ext cx="6457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Контроль и отчеты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41BCC6-6FA2-47D5-9091-AF14249D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305300"/>
            <a:ext cx="6457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38A"/>
                </a:solidFill>
              </a:defRPr>
            </a:pPr>
            <a:r>
              <a:rPr sz="1500">
                <a:solidFill>
                  <a:srgbClr val="65738A"/>
                </a:solidFill>
              </a:rPr>
              <a:t>Проверка качества, очередь отчетов, аудит действий.</a:t>
            </a:r>
          </a:p>
        </p:txBody>
      </p:sp>
    </p:spTree>
    <p:extLst>
      <p:ext uri="{BB962C8B-B14F-4D97-AF65-F5344CB8AC3E}">
        <p14:creationId xmlns:p14="http://schemas.microsoft.com/office/powerpoint/2010/main" val="3101673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0935CBAD-C00F-414C-AE74-B50AEB18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6935C-0491-4F60-8543-C002D0AD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F230F-303A-4C19-9FD6-84B93CDC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Описание работы приложения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352A3-E4E7-4CE0-BDA9-147070CF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7943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5738A"/>
                </a:solidFill>
              </a:defRPr>
            </a:pPr>
            <a:r>
              <a:rPr sz="1875">
                <a:solidFill>
                  <a:srgbClr val="65738A"/>
                </a:solidFill>
              </a:rPr>
              <a:t>Приложение автоматизирует цепочку обслуживания: от измерения до отчета.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4790A-EF13-4D29-9DD9-560956FD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F6538E-CC9E-4658-BE54-BBD3083F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3635"/>
            <a:ext cx="10458450" cy="7225665"/>
          </a:xfrm>
          <a:prstGeom xmlns:a="http://schemas.openxmlformats.org/drawingml/2006/main" prst="roundRect">
            <a:avLst>
              <a:gd name="adj" fmla="val 29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7A3E9-6A5F-4E3C-83AF-DF646A9A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9938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DBFE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8B956-CD5C-4594-A65D-EF4B7C73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525AD-95BF-412C-8570-C1B5E269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05100"/>
            <a:ext cx="9544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1. Измерение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20BE3-23E6-4390-A0F5-C83A0AFE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28950"/>
            <a:ext cx="9544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38A"/>
                </a:solidFill>
              </a:defRPr>
            </a:pPr>
            <a:r>
              <a:rPr sz="1500">
                <a:solidFill>
                  <a:srgbClr val="65738A"/>
                </a:solidFill>
              </a:rPr>
              <a:t>Метрололог отправляет параметр, значение и единицы измерения.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028F25-FE36-4E09-83C7-A3A5082D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138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68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CE5AC4-3D1D-4264-AFF4-8C7FD27A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E35B6B-3384-4526-AED4-85CF5DF4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67100"/>
            <a:ext cx="9544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2. Fault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8BE5B-BA63-4FF8-B9F0-7E2A2A65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90950"/>
            <a:ext cx="9544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38A"/>
                </a:solidFill>
              </a:defRPr>
            </a:pPr>
            <a:r>
              <a:rPr sz="1500">
                <a:solidFill>
                  <a:srgbClr val="65738A"/>
                </a:solidFill>
              </a:rPr>
              <a:t>Система фиксирует неисправность и показывает ее эксперту.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224BC4-119F-43D7-8639-998121BB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338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BF7D0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A8B2D1-FCD5-46F3-87D0-F0230FD8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21A522-E795-4BB8-8DC1-C1889398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29100"/>
            <a:ext cx="9544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3. Recommendation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87D847-D73D-4E7B-9A53-E50D94A5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52950"/>
            <a:ext cx="9544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38A"/>
                </a:solidFill>
              </a:defRPr>
            </a:pPr>
            <a:r>
              <a:rPr sz="1500">
                <a:solidFill>
                  <a:srgbClr val="65738A"/>
                </a:solidFill>
              </a:rPr>
              <a:t>Эксперт подтверждает проблему и пишет рекомендацию.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7C1413-5836-4CF6-9AD2-82E5AEB2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538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D7AA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88E4D6-8442-4DB5-8A48-E712C36D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9110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C4E5DC-5152-4D03-A4F5-E02BAF42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91100"/>
            <a:ext cx="9544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4. Plan и task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989F73-6EA7-49A2-8183-0FACE4CE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14950"/>
            <a:ext cx="9544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38A"/>
                </a:solidFill>
              </a:defRPr>
            </a:pPr>
            <a:r>
              <a:rPr sz="1500">
                <a:solidFill>
                  <a:srgbClr val="65738A"/>
                </a:solidFill>
              </a:rPr>
              <a:t>Диспетчер создает план, механик берет задачу в работу.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6D8E87-D933-4997-A3D8-7A20F0D0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4738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D6FE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3BC1F2-9DD7-444D-B596-A8872A0F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5310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64D57A-BAE2-42CD-AD82-EBBB1DD3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53100"/>
            <a:ext cx="9544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5. Quality и report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79240D-1C9A-483B-A069-E479F0F2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076950"/>
            <a:ext cx="9544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38A"/>
                </a:solidFill>
              </a:defRPr>
            </a:pPr>
            <a:r>
              <a:rPr sz="1500">
                <a:solidFill>
                  <a:srgbClr val="65738A"/>
                </a:solidFill>
              </a:rPr>
              <a:t>Проверка качества, генерация отчета через очередь.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1EE18E-98FC-4633-A80B-C853E841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2413635"/>
            <a:ext cx="5905500" cy="7225665"/>
          </a:xfrm>
          <a:prstGeom xmlns:a="http://schemas.openxmlformats.org/drawingml/2006/main" prst="roundRect">
            <a:avLst>
              <a:gd name="adj" fmla="val 3548"/>
            </a:avLst>
          </a:prstGeom>
          <a:solidFill xmlns:a="http://schemas.openxmlformats.org/drawingml/2006/main">
            <a:srgbClr val="EEF6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6F2ADA-C001-46FB-90D8-56D483AC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705100"/>
            <a:ext cx="533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Роли в системе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A689B2-BE64-4EDB-9982-3ED5869A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3278505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286903-0F08-4D50-8908-2CA88DD1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3371850"/>
            <a:ext cx="106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Роль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ADBE7A-526C-4B18-90D8-C0FC6336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3278505"/>
            <a:ext cx="4048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3A4F75-C204-4429-8C22-E3DFDC88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371850"/>
            <a:ext cx="382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Что делает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EF45F6-A1F6-4210-801E-81CE923A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3716655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093AB1-A757-4827-9ACC-3A295EBB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3810000"/>
            <a:ext cx="106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admin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FF50ED-2CEE-4912-AAE8-221C94CA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3716655"/>
            <a:ext cx="4048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D0ABBD-6C5D-48F2-99C4-D2A8A3D6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810000"/>
            <a:ext cx="382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управляет доступом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65A901-88BA-4135-972E-97E592E8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4154805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B9A282-F84C-4728-B136-73DC8CEC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248150"/>
            <a:ext cx="106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manager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FF7C4A-6484-42F4-B1D1-BA095BFE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4154805"/>
            <a:ext cx="4048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896CE3-88A9-4CDE-81D7-6E6370E9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248150"/>
            <a:ext cx="382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смотрит отчеты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5F6E3D-C53B-4745-BCC5-DDF780E0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4592955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16732D-C426-487A-9035-289F6CEC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686300"/>
            <a:ext cx="106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expert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892297-F8CE-4031-87F5-AAC59C57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4592955"/>
            <a:ext cx="4048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861E6E-9AFD-4F94-9DEA-13B29A9B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686300"/>
            <a:ext cx="382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подтверждает faults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EE4C9D-4A78-4B08-856E-2138326B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5031105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42A4C2-A2B4-4065-880F-A182E260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5124450"/>
            <a:ext cx="106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dispatcher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E9F4D7B-8F8D-4EF8-B272-A8F3D783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5031105"/>
            <a:ext cx="4048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F63635-6A20-4CBF-ADE9-0C84BE1F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124450"/>
            <a:ext cx="382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создает планы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21DC36-3FA4-4D92-98C7-8E508BFD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5469255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7A9886A-FAFB-48B9-8A93-ABE6CBAF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5562600"/>
            <a:ext cx="106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mechanic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EE065D2-8039-4C05-9349-B00AFC91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5469255"/>
            <a:ext cx="4048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84F4F3-D6C9-4DB3-8B88-D917F72E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562600"/>
            <a:ext cx="382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выполняет задачи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BC6D86-7F2D-4778-8320-3FF586DB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5907405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F46C846-C3A0-4EB3-B7CB-55D6B9DB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6000750"/>
            <a:ext cx="106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quality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06A4F6D-57BC-4964-A839-517306B4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5907405"/>
            <a:ext cx="4048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FC6DE80-345B-4702-A244-32472DF5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6000750"/>
            <a:ext cx="382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проверяет 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10653237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E0F97E24-70F5-45B2-8841-FD718BA3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BF10B-AE97-421A-8BF8-276B3E14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22F7E-986C-4263-BC76-FEE342BB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На чем написано и архитектура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E7051-AE01-4D2B-9DE2-B9B92F65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8039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5738A"/>
                </a:solidFill>
              </a:defRPr>
            </a:pPr>
            <a:r>
              <a:rPr sz="1875">
                <a:solidFill>
                  <a:srgbClr val="65738A"/>
                </a:solidFill>
              </a:rPr>
              <a:t>Backend построен вокруг FastAPI, базы данных, очереди и отдельных клиентов.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68046-CA87-4228-A83A-4E636B0F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F4FB7-A800-4CAB-B6E7-59A5BA2F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9385"/>
            <a:ext cx="5384800" cy="3355658"/>
          </a:xfrm>
          <a:prstGeom xmlns:a="http://schemas.openxmlformats.org/drawingml/2006/main" prst="roundRect">
            <a:avLst>
              <a:gd name="adj" fmla="val 567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55280-75D2-432E-B433-048A608F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FastAPI backend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A218C-FC83-4727-9016-0F704D73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48050"/>
            <a:ext cx="4895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5738A"/>
                </a:solidFill>
              </a:defRPr>
            </a:pPr>
            <a:r>
              <a:rPr sz="1875">
                <a:solidFill>
                  <a:srgbClr val="65738A"/>
                </a:solidFill>
              </a:rPr>
              <a:t>Маршруты, DTO, авторизация, RBAC, CSRF и security headers.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1243E-B726-4971-992B-72559236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2699385"/>
            <a:ext cx="5384800" cy="3355658"/>
          </a:xfrm>
          <a:prstGeom xmlns:a="http://schemas.openxmlformats.org/drawingml/2006/main" prst="roundRect">
            <a:avLst>
              <a:gd name="adj" fmla="val 567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B7FFB-0AE5-4CCC-890D-E6EF3302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5275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PostgreSQL / Supabase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12371-C052-43BF-8868-5A166D8D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48050"/>
            <a:ext cx="4895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5738A"/>
                </a:solidFill>
              </a:defRPr>
            </a:pPr>
            <a:r>
              <a:rPr sz="1875">
                <a:solidFill>
                  <a:srgbClr val="65738A"/>
                </a:solidFill>
              </a:rPr>
              <a:t>Основные таблицы: users, roles, faults, tasks, reports, transactions.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022B25-E325-41E6-9CA6-1BF4BE74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2699385"/>
            <a:ext cx="5384800" cy="3355658"/>
          </a:xfrm>
          <a:prstGeom xmlns:a="http://schemas.openxmlformats.org/drawingml/2006/main" prst="roundRect">
            <a:avLst>
              <a:gd name="adj" fmla="val 567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43179E-B603-4507-9195-F7CA69C5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95275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Redis + Celery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020A55-04A9-42D9-B5E2-3101199C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448050"/>
            <a:ext cx="4895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5738A"/>
                </a:solidFill>
              </a:defRPr>
            </a:pPr>
            <a:r>
              <a:rPr sz="1875">
                <a:solidFill>
                  <a:srgbClr val="65738A"/>
                </a:solidFill>
              </a:rPr>
              <a:t>Очередь фоновой генерации отчетов и статусы worker-задач.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463BA-5412-4851-8C3F-D0700E25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3643"/>
            <a:ext cx="5384800" cy="3355658"/>
          </a:xfrm>
          <a:prstGeom xmlns:a="http://schemas.openxmlformats.org/drawingml/2006/main" prst="roundRect">
            <a:avLst>
              <a:gd name="adj" fmla="val 567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4D48D4-B556-4B86-BDE5-458DC7C4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53415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CQRS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9B4379-7C59-4186-83F6-B3BC7FF7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029450"/>
            <a:ext cx="4895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5738A"/>
                </a:solidFill>
              </a:defRPr>
            </a:pPr>
            <a:r>
              <a:rPr sz="1875">
                <a:solidFill>
                  <a:srgbClr val="65738A"/>
                </a:solidFill>
              </a:rPr>
              <a:t>commands.py меняет данные, queries.py читает списки и dashboard.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BEA53A-4969-4DD5-A59C-D748FE55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6283643"/>
            <a:ext cx="5384800" cy="3355658"/>
          </a:xfrm>
          <a:prstGeom xmlns:a="http://schemas.openxmlformats.org/drawingml/2006/main" prst="roundRect">
            <a:avLst>
              <a:gd name="adj" fmla="val 567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66C5AA-ED02-4D8A-9B85-4AF947CA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53415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Security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9E1F30-0C91-49C0-ACAC-5A024927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029450"/>
            <a:ext cx="4895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5738A"/>
                </a:solidFill>
              </a:defRPr>
            </a:pPr>
            <a:r>
              <a:rPr sz="1875">
                <a:solidFill>
                  <a:srgbClr val="65738A"/>
                </a:solidFill>
              </a:rPr>
              <a:t>IDOR, mass assignment, XSS/CSS, CSRF, CORS, rate limit, last admin guard.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24B5C9-74AA-43D0-B583-D554E73D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6283643"/>
            <a:ext cx="5384800" cy="3355658"/>
          </a:xfrm>
          <a:prstGeom xmlns:a="http://schemas.openxmlformats.org/drawingml/2006/main" prst="roundRect">
            <a:avLst>
              <a:gd name="adj" fmla="val 567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48DADF-F126-4D3C-B6E6-0D82C192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653415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Clients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ECCE5-8A3F-4CE7-8AA3-646D5850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7029450"/>
            <a:ext cx="4895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5738A"/>
                </a:solidFill>
              </a:defRPr>
            </a:pPr>
            <a:r>
              <a:rPr sz="1875">
                <a:solidFill>
                  <a:srgbClr val="65738A"/>
                </a:solidFill>
              </a:rPr>
              <a:t>Веб, мобильный и десктопный интерфейсы работают с одним API.</a:t>
            </a:r>
          </a:p>
        </p:txBody>
      </p:sp>
    </p:spTree>
    <p:extLst>
      <p:ext uri="{BB962C8B-B14F-4D97-AF65-F5344CB8AC3E}">
        <p14:creationId xmlns:p14="http://schemas.microsoft.com/office/powerpoint/2010/main" val="6161669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27FE41E1-E826-48DE-9E9E-FA08BDD7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430D0-668E-4EC3-B1FF-4AFE043F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30776-F822-4C0F-85D5-6A60F1C9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Веб-интерфейс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7C884-DFE1-40B0-8C4B-C325D457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828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5738A"/>
                </a:solidFill>
              </a:defRPr>
            </a:pPr>
            <a:r>
              <a:rPr sz="1875">
                <a:solidFill>
                  <a:srgbClr val="65738A"/>
                </a:solidFill>
              </a:rPr>
              <a:t>Одно окно веб-клиента для менеджера, эксперта, диспетчера и администратора.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45953-AD4B-4FB5-B231-385F1097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714EE-D664-4849-AD30-180F55F1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3185"/>
            <a:ext cx="16611600" cy="6191250"/>
          </a:xfrm>
          <a:prstGeom xmlns:a="http://schemas.openxmlformats.org/drawingml/2006/main" prst="roundRect">
            <a:avLst>
              <a:gd name="adj" fmla="val 4308"/>
            </a:avLst>
          </a:prstGeom>
          <a:solidFill xmlns:a="http://schemas.openxmlformats.org/drawingml/2006/main">
            <a:srgbClr val="0F172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E0C0A-C930-4333-83DD-E964F1C4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273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D5629-6410-4DED-A1B7-A9CD77A0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1895B-5781-44AA-81C8-2D00FEA7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3273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C5454-1903-4EB7-BDF4-22169E49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3845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841BF-6D95-42ED-B279-41BD2987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3273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FFFCB-1E92-4008-A126-04514B25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3845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0BEAF-70FC-4CD6-8BB7-7F0BE455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838450"/>
            <a:ext cx="1544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3C5FD"/>
                </a:solidFill>
              </a:defRPr>
            </a:pPr>
            <a:r>
              <a:rPr sz="1425" b="1">
                <a:solidFill>
                  <a:srgbClr val="93C5FD"/>
                </a:solidFill>
              </a:rPr>
              <a:t>clients/web/index.html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DA42D-E7C4-4090-8C66-B42662CC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1385"/>
            <a:ext cx="2381250" cy="51435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11827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03564-0F20-4E06-BB24-C4C364BD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Web Client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A40310-B638-4055-AF8D-01E90817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14800"/>
            <a:ext cx="19621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CBD5E1"/>
                </a:solidFill>
              </a:defRPr>
            </a:pPr>
            <a:r>
              <a:rPr sz="1650">
                <a:solidFill>
                  <a:srgbClr val="CBD5E1"/>
                </a:solidFill>
              </a:rPr>
              <a:t>Dashboard</a:t>
            </a:r>
          </a:p>
          <a:p xmlns:a="http://schemas.openxmlformats.org/drawingml/2006/main">
            <a:pPr>
              <a:defRPr sz="1650">
                <a:solidFill>
                  <a:srgbClr val="CBD5E1"/>
                </a:solidFill>
              </a:defRPr>
            </a:pPr>
            <a:r>
              <a:rPr sz="1650">
                <a:solidFill>
                  <a:srgbClr val="CBD5E1"/>
                </a:solidFill>
              </a:rPr>
              <a:t>Reports</a:t>
            </a:r>
          </a:p>
          <a:p xmlns:a="http://schemas.openxmlformats.org/drawingml/2006/main">
            <a:pPr>
              <a:defRPr sz="1650">
                <a:solidFill>
                  <a:srgbClr val="CBD5E1"/>
                </a:solidFill>
              </a:defRPr>
            </a:pPr>
            <a:r>
              <a:rPr sz="1650">
                <a:solidFill>
                  <a:srgbClr val="CBD5E1"/>
                </a:solidFill>
              </a:rPr>
              <a:t>Faults</a:t>
            </a:r>
          </a:p>
          <a:p xmlns:a="http://schemas.openxmlformats.org/drawingml/2006/main">
            <a:pPr>
              <a:defRPr sz="1650">
                <a:solidFill>
                  <a:srgbClr val="CBD5E1"/>
                </a:solidFill>
              </a:defRPr>
            </a:pPr>
            <a:r>
              <a:rPr sz="1650">
                <a:solidFill>
                  <a:srgbClr val="CBD5E1"/>
                </a:solidFill>
              </a:rPr>
              <a:t>Plans</a:t>
            </a:r>
          </a:p>
          <a:p xmlns:a="http://schemas.openxmlformats.org/drawingml/2006/main">
            <a:pPr>
              <a:defRPr sz="1650">
                <a:solidFill>
                  <a:srgbClr val="CBD5E1"/>
                </a:solidFill>
              </a:defRPr>
            </a:pPr>
            <a:r>
              <a:rPr sz="1650">
                <a:solidFill>
                  <a:srgbClr val="CBD5E1"/>
                </a:solidFill>
              </a:rPr>
              <a:t>Admin Security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57A8BD-D296-4722-ADC8-4C654784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61385"/>
            <a:ext cx="44323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BEAFE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E02BF9-237C-4718-A91E-35C38594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38550"/>
            <a:ext cx="4095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Open faults</a:t>
            </a:r>
          </a:p>
          <a:p xmlns:a="http://schemas.openxmlformats.org/drawingml/2006/main">
            <a:pPr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1E0E57-F1F4-4952-B5AB-BCBEE678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461385"/>
            <a:ext cx="44323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1FAE5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C3698C-5A64-49E5-9D00-F64624FB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38550"/>
            <a:ext cx="4095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59669"/>
                </a:solidFill>
              </a:defRPr>
            </a:pPr>
            <a:r>
              <a:rPr sz="2025" b="1">
                <a:solidFill>
                  <a:srgbClr val="059669"/>
                </a:solidFill>
              </a:rPr>
              <a:t>Reports</a:t>
            </a:r>
          </a:p>
          <a:p xmlns:a="http://schemas.openxmlformats.org/drawingml/2006/main">
            <a:pPr>
              <a:defRPr sz="2025" b="1">
                <a:solidFill>
                  <a:srgbClr val="059669"/>
                </a:solidFill>
              </a:defRPr>
            </a:pPr>
            <a:r>
              <a:rPr sz="2025" b="1">
                <a:solidFill>
                  <a:srgbClr val="059669"/>
                </a:solidFill>
              </a:rPr>
              <a:t>Ready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36361D-0477-4F9B-8319-D3561D9A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7950" y="3461385"/>
            <a:ext cx="44323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EDD5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D93352-F324-4321-BFE5-08B4331A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3638550"/>
            <a:ext cx="4095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A580C"/>
                </a:solidFill>
              </a:defRPr>
            </a:pPr>
            <a:r>
              <a:rPr sz="2025" b="1">
                <a:solidFill>
                  <a:srgbClr val="EA580C"/>
                </a:solidFill>
              </a:rPr>
              <a:t>Rate limit</a:t>
            </a:r>
          </a:p>
          <a:p xmlns:a="http://schemas.openxmlformats.org/drawingml/2006/main">
            <a:pPr>
              <a:defRPr sz="2025" b="1">
                <a:solidFill>
                  <a:srgbClr val="EA580C"/>
                </a:solidFill>
              </a:defRPr>
            </a:pPr>
            <a:r>
              <a:rPr sz="2025" b="1">
                <a:solidFill>
                  <a:srgbClr val="EA580C"/>
                </a:solidFill>
              </a:rPr>
              <a:t>Enabled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C03DDF-CB1E-44A4-9FB8-2DD5299A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75835"/>
            <a:ext cx="13639800" cy="382905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0DB436-15A7-4179-B0F6-79529DED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953000"/>
            <a:ext cx="13296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Report queue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109F00-8451-4F21-A7C1-DD40279D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469255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91B38D-CD5A-4AE0-9F0F-A3AC03E5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562600"/>
            <a:ext cx="106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Job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E2AA3A-B280-4F23-9D46-D7CEAE46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5469255"/>
            <a:ext cx="600551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C3A6B1-10DD-470D-BDCB-1E3A8E7C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562600"/>
            <a:ext cx="5772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Status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2124EF-5052-4A30-AF02-CB28E2A0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288" y="5469255"/>
            <a:ext cx="600551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B244B9-6AB7-4036-A83D-F3A8C8FD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5562600"/>
            <a:ext cx="5772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Owner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200DB5-E507-41B6-98E5-3F25A791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907405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26D001-38EE-4E91-A987-2D1175BB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000750"/>
            <a:ext cx="106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R-104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E5FF71-4A3F-44A1-BCB8-5BE1ABAC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5907405"/>
            <a:ext cx="600551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C1D098-FE1E-464A-B3B8-D0400641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000750"/>
            <a:ext cx="5772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queued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3FA33B-C05C-494F-9074-857AB5BE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288" y="5907405"/>
            <a:ext cx="600551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318E21-6F5F-4D2C-BCBD-014F8811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000750"/>
            <a:ext cx="5772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manager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FB729F-FB17-4EE3-93A6-D49BD0DC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345555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4744D7-14B3-4ABC-A697-1036708B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438900"/>
            <a:ext cx="106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R-105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203161-0553-4C71-9714-85DD7FDF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6345555"/>
            <a:ext cx="600551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F3C47C-F12B-40B7-8AC2-46784FA3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438900"/>
            <a:ext cx="5772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completed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8E1728-6CD5-4703-8E3D-EBD83019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288" y="6345555"/>
            <a:ext cx="600551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769E7E-6C7C-4A1C-BC59-98F0D729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772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admin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66D421-7149-48EA-964B-98767120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783705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318E30-D2E6-4ED7-88B3-C2400C99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877050"/>
            <a:ext cx="106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R-106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9C471E-802C-431C-80E6-E4EA2582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6783705"/>
            <a:ext cx="600551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D0F5A2-6587-461A-AAE4-C8317C09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877050"/>
            <a:ext cx="5772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worker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844353-E417-4ACC-ACF1-2D52B1AE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288" y="6783705"/>
            <a:ext cx="600551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7C6EE4-ACA8-4890-A6FA-C1A9CAEA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877050"/>
            <a:ext cx="5772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dispatcher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A96CC12-4F9C-48D9-BC9B-11CED5C2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67800"/>
            <a:ext cx="1661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i="1">
                <a:solidFill>
                  <a:srgbClr val="475569"/>
                </a:solidFill>
              </a:defRPr>
            </a:pPr>
            <a:r>
              <a:rPr sz="1500" i="1">
                <a:solidFill>
                  <a:srgbClr val="475569"/>
                </a:solidFill>
              </a:rPr>
              <a:t>Рисунок 1. Веб-интерфейс: dashboard, очередь отчетов и админские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15826968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D44070A4-F083-491D-8FD4-BB77606F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BAB47-A050-4A14-9850-85FE15E3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160B7-7C20-4CEE-9727-0D2F1065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Мобильный интерфейс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32A0D-5E65-469E-B92A-7A311BB1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9144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5738A"/>
                </a:solidFill>
              </a:defRPr>
            </a:pPr>
            <a:r>
              <a:rPr sz="1875">
                <a:solidFill>
                  <a:srgbClr val="65738A"/>
                </a:solidFill>
              </a:rPr>
              <a:t>Мобильный клиент нужен для полевых ролей: механика, метролога и проверки качества.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493B7-D07A-4566-A5AF-2EC42EC4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65A8C-1EFE-4DE9-8214-B2B6E6B8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4135"/>
            <a:ext cx="4095750" cy="6286500"/>
          </a:xfrm>
          <a:prstGeom xmlns:a="http://schemas.openxmlformats.org/drawingml/2006/main" prst="roundRect">
            <a:avLst>
              <a:gd name="adj" fmla="val 10698"/>
            </a:avLst>
          </a:prstGeom>
          <a:solidFill xmlns:a="http://schemas.openxmlformats.org/drawingml/2006/main">
            <a:srgbClr val="11182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75C6C-5838-480B-86E1-C34FADC6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3685"/>
            <a:ext cx="3676650" cy="5867400"/>
          </a:xfrm>
          <a:prstGeom xmlns:a="http://schemas.openxmlformats.org/drawingml/2006/main" prst="roundRect">
            <a:avLst>
              <a:gd name="adj" fmla="val 829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09DEE-2ACF-4164-A81B-80B36E78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61335"/>
            <a:ext cx="1259205" cy="563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CDA9D-87A1-42C6-8D6F-F1945DA2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43250"/>
            <a:ext cx="95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Mobile Client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40149-B167-40D1-8854-037424F0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855" y="3061335"/>
            <a:ext cx="60179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FAE5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87950-8191-40DD-8A2E-F40EA83E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43250"/>
            <a:ext cx="30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JWT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4AF41-CFEF-4A27-935A-22E986DB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10000"/>
            <a:ext cx="3181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Задачи механика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52E38-35E4-4F9D-9CBD-6F4DFB1A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71975"/>
            <a:ext cx="31813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CEDEF-621D-4210-93BF-DE56EF2C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33900"/>
            <a:ext cx="28384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#42 Замена узла</a:t>
            </a:r>
          </a:p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status: active</a:t>
            </a:r>
          </a:p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equipment: Pump-7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FCA6EE-B2C7-4A84-AA5C-7D4C43F9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00725"/>
            <a:ext cx="31813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3E5E6-97E0-45F0-92F1-5AFF9EBE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981700"/>
            <a:ext cx="28384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Сбор измерения</a:t>
            </a:r>
          </a:p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parameter: temperature</a:t>
            </a:r>
          </a:p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value: 55 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699A34-B4F2-48FC-82B6-3DD5DE84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229475"/>
            <a:ext cx="31813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1FF97A-9D15-4602-B2CF-89AE4BD4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372350"/>
            <a:ext cx="2800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Отправить статус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104756-3F2F-4C44-85B7-289021C0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0413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DBFE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232FE0-8013-4F1D-A705-10C3B28E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0985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04FAD4-E39E-491A-BA7F-76B247FF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09850"/>
            <a:ext cx="11772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Работа с задачами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4DB881-910D-4BEC-8E72-0D7C94D2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33700"/>
            <a:ext cx="11772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38A"/>
                </a:solidFill>
              </a:defRPr>
            </a:pPr>
            <a:r>
              <a:rPr sz="1500">
                <a:solidFill>
                  <a:srgbClr val="65738A"/>
                </a:solidFill>
              </a:rPr>
              <a:t>Механик видит свои задачи и меняет статус: start, finish, cancel.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747F4E-8A6F-4EA5-A67F-525FAAC9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6613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BF7D0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C14156-B343-42C0-806E-5A53D354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7185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B1B0D9-9810-4658-8654-8414C245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71850"/>
            <a:ext cx="11772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Сбор измерений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75CD53-4722-4101-AD9B-7322779B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95700"/>
            <a:ext cx="11772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38A"/>
                </a:solidFill>
              </a:defRPr>
            </a:pPr>
            <a:r>
              <a:rPr sz="1500">
                <a:solidFill>
                  <a:srgbClr val="65738A"/>
                </a:solidFill>
              </a:rPr>
              <a:t>Метрололог отправляет данные по компонентам оборудования.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BC1E02-BAF2-4230-9936-0FD288C4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2813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D7AA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40287C-F3C5-42D6-911D-AB921505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3385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31B09B-83EF-42F1-903E-71C4B753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33850"/>
            <a:ext cx="11772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Контроль качества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0A0C23-9A1A-4EB5-87F9-25C74614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457700"/>
            <a:ext cx="11772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38A"/>
                </a:solidFill>
              </a:defRPr>
            </a:pPr>
            <a:r>
              <a:rPr sz="1500">
                <a:solidFill>
                  <a:srgbClr val="65738A"/>
                </a:solidFill>
              </a:rPr>
              <a:t>Инженер качества фиксирует результат проверки.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9E33C0-391D-4203-ACC5-FE09522F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9013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D6FE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B4B183-246A-4031-9A63-8415BE8B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9585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475F1A-5A36-4668-AC04-2131F079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95850"/>
            <a:ext cx="11772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Безопасность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34D95A-CEAB-4D95-A464-C22F8EFD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19700"/>
            <a:ext cx="11772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38A"/>
                </a:solidFill>
              </a:defRPr>
            </a:pPr>
            <a:r>
              <a:rPr sz="1500">
                <a:solidFill>
                  <a:srgbClr val="65738A"/>
                </a:solidFill>
              </a:rPr>
              <a:t>Клиент не решает права сам: backend проверяет роль и владельца.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A8D3F7-5008-4A9D-A4AD-01F560BF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124950"/>
            <a:ext cx="1661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i="1">
                <a:solidFill>
                  <a:srgbClr val="475569"/>
                </a:solidFill>
              </a:defRPr>
            </a:pPr>
            <a:r>
              <a:rPr sz="1500" i="1">
                <a:solidFill>
                  <a:srgbClr val="475569"/>
                </a:solidFill>
              </a:rPr>
              <a:t>Рисунок 2. Мобильный интерфейс: задачи, измерения и отправка статусов с телефона.</a:t>
            </a:r>
          </a:p>
        </p:txBody>
      </p:sp>
    </p:spTree>
    <p:extLst>
      <p:ext uri="{BB962C8B-B14F-4D97-AF65-F5344CB8AC3E}">
        <p14:creationId xmlns:p14="http://schemas.microsoft.com/office/powerpoint/2010/main" val="1172064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B411A54C-B126-4B90-A375-6DBD6A94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455D0-EC81-48A9-BE09-91C7FE13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0EDE6-4436-46C3-AAC0-321A517A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Десктопный интерфейс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09BF2-FDC6-4869-A54B-63BEE4A6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87439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5738A"/>
                </a:solidFill>
              </a:defRPr>
            </a:pPr>
            <a:r>
              <a:rPr sz="1875">
                <a:solidFill>
                  <a:srgbClr val="65738A"/>
                </a:solidFill>
              </a:rPr>
              <a:t>Десктопное окно используется как рабочая консоль мониторинга и обработки заявок.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C97C8-DFA4-40E9-B36A-C03B80F5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92040-809E-4E58-B752-EA5F69C0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4135"/>
            <a:ext cx="16611600" cy="628650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1F293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15D81-26AE-4567-85BF-31BCAB22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3273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756E9-CE4B-47B3-97BB-D7384913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3845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9FBDE-F326-4DDF-99EA-A3544859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3273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FA76A-5D3F-47A6-AFEC-A0ACCF4C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3845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7D92A-C3DF-4CC0-ABA8-5979F373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3273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DE2E5-F843-49EC-AD56-BB384C73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3845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17298-ACA4-48F4-B9CC-C608215C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38450"/>
            <a:ext cx="15411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FDBFE"/>
                </a:solidFill>
              </a:defRPr>
            </a:pPr>
            <a:r>
              <a:rPr sz="1425" b="1">
                <a:solidFill>
                  <a:srgbClr val="BFDBFE"/>
                </a:solidFill>
              </a:rPr>
              <a:t>Desktop Client • Monitoring Console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920B2-F677-463D-BF59-D9001FB6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99485"/>
            <a:ext cx="31432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374151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2106C7-0E81-482A-9A2B-6F130EFA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2800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Fault Feed</a:t>
            </a:r>
          </a:p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19B44D-8AC6-4209-9EAF-B575BFCA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71060"/>
            <a:ext cx="31432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374151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B24E6-4337-4901-BAC1-9D4BF445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2800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Queue Sync</a:t>
            </a:r>
          </a:p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5 sec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8E1D23-E372-412C-915B-55FCB452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42635"/>
            <a:ext cx="31432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374151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8A1F41-0CE9-4AA4-843B-3E335003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19800"/>
            <a:ext cx="2800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Audit Mode</a:t>
            </a:r>
          </a:p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Enabled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D3786E-1D3A-4B26-9396-B6C957AD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99485"/>
            <a:ext cx="12839700" cy="51625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2C161-96CF-4166-A764-E8A6E71B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12420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Monitoring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848C07-A0CD-4645-8F5B-8CC8117D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50055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B12924-CADD-4BDD-ADC3-4CCB531E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43400"/>
            <a:ext cx="106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683C6F-D87B-4698-B964-D774A6CD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250055"/>
            <a:ext cx="556736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F56F22-6F80-4A69-A5B0-6209FA13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434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Event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B647A3-92D2-46DD-A468-525FD23B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288" y="4250055"/>
            <a:ext cx="556736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DE445E-B68B-49D9-A5B2-0A7B7C93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43434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Result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451391-77BA-4623-8E4E-925B82AD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88205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60BD4F-DA1B-4986-A559-2475E5A4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81550"/>
            <a:ext cx="106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101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D2C2B4-0D0D-47FD-9E22-9D79D72D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688205"/>
            <a:ext cx="556736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4F3A0B-6D91-4E16-94D3-417124A0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8155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security_idor_denied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DA71EB-9362-4B39-8506-9014ABCE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288" y="4688205"/>
            <a:ext cx="556736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D165E0-E647-4D9F-9726-F16CEAD8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478155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403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440EB3-87E4-4A19-9FBA-ACE7FA3B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126355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96E031-1847-4C86-B020-675CC675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219700"/>
            <a:ext cx="106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102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9D160F-309D-44F2-919D-1911143C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126355"/>
            <a:ext cx="556736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34149C-5029-4C47-A69D-2FFBB101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19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report_enqueued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0543F4-36E9-4AB9-A691-32EB4F49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288" y="5126355"/>
            <a:ext cx="556736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729D5C-071C-4519-9C91-C9E2F09B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5219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queued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C9E792-E6BA-4B94-A65C-CDDA9071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564505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D9CC3E-DC77-4C51-8601-1D1839E0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657850"/>
            <a:ext cx="106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103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976DF1-C45D-4351-9687-BA4A0A97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564505"/>
            <a:ext cx="556736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5AC903-A044-4841-AE5B-E2974F68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65785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admin_users_viewed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A8997E-8A99-4F2B-8CD7-1D2F9FA9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288" y="5564505"/>
            <a:ext cx="556736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8AC517-664A-44E4-A835-CFE14815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565785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audit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519918-E02E-4C8D-B5E5-09D743D9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155055"/>
            <a:ext cx="1180814" cy="563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50BCD6-F12B-4BAB-802D-CB76CABA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229350"/>
            <a:ext cx="876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IDOR checks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3D3C71-6013-4522-BA95-C2D6B35A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214" y="6155055"/>
            <a:ext cx="1016984" cy="563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FAE5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7E458A-BD62-402C-B7B2-AB780DE0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229350"/>
            <a:ext cx="704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Audit logs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B24D2DC-7E2C-4666-82DE-B94E493D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549" y="6155055"/>
            <a:ext cx="1047940" cy="563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DD5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860DE2-5344-4CD5-811B-31F5D157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229350"/>
            <a:ext cx="742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A580C"/>
                </a:solidFill>
              </a:defRPr>
            </a:pPr>
            <a:r>
              <a:rPr sz="1350" b="1">
                <a:solidFill>
                  <a:srgbClr val="EA580C"/>
                </a:solidFill>
              </a:rPr>
              <a:t>Hot points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5738A32-9A83-4C96-9648-DAD6A73A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124950"/>
            <a:ext cx="1661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i="1">
                <a:solidFill>
                  <a:srgbClr val="475569"/>
                </a:solidFill>
              </a:defRPr>
            </a:pPr>
            <a:r>
              <a:rPr sz="1500" i="1">
                <a:solidFill>
                  <a:srgbClr val="475569"/>
                </a:solidFill>
              </a:rPr>
              <a:t>Рисунок 3. Десктопный интерфейс: мониторинг, очередь событий и audit-журнал.</a:t>
            </a:r>
          </a:p>
        </p:txBody>
      </p:sp>
    </p:spTree>
    <p:extLst>
      <p:ext uri="{BB962C8B-B14F-4D97-AF65-F5344CB8AC3E}">
        <p14:creationId xmlns:p14="http://schemas.microsoft.com/office/powerpoint/2010/main" val="9056730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2026-05-04T21:18:14.2410000Z</dcterms:created>
  <dcterms:modified xsi:type="dcterms:W3CDTF">2026-05-04T21:18:14.2410000Z</dcterms:modified>
</coreProperties>
</file>